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7" r:id="rId9"/>
    <p:sldId id="264" r:id="rId10"/>
    <p:sldId id="265" r:id="rId11"/>
    <p:sldId id="268" r:id="rId12"/>
    <p:sldId id="266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55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4800" cap="all" baseline="0">
                <a:solidFill>
                  <a:schemeClr val="tx2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E3921FFE-0C8E-4CDC-A06F-03EA2A404855}" type="datetimeFigureOut">
              <a:rPr lang="pt-BR" smtClean="0"/>
              <a:t>16/06/2026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A34B46A2-E8C1-4DF7-A6B0-0FE2B6D4EDEA}" type="slidenum">
              <a:rPr lang="pt-BR" smtClean="0"/>
              <a:t>‹nº›</a:t>
            </a:fld>
            <a:endParaRPr lang="pt-BR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  <p:pic>
        <p:nvPicPr>
          <p:cNvPr id="8" name="Picture 2" descr="C:\Anderson\MateriaisAulas\FATEC\Coordenação\logos\logoFatec.png">
            <a:extLst>
              <a:ext uri="{FF2B5EF4-FFF2-40B4-BE49-F238E27FC236}">
                <a16:creationId xmlns:a16="http://schemas.microsoft.com/office/drawing/2014/main" id="{E5617AEF-34EB-BB6F-15D8-C6EFAE90305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036" y="62635"/>
            <a:ext cx="1414156" cy="623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Imagem 8" descr="Logotipo&#10;&#10;Descrição gerada automaticamente">
            <a:extLst>
              <a:ext uri="{FF2B5EF4-FFF2-40B4-BE49-F238E27FC236}">
                <a16:creationId xmlns:a16="http://schemas.microsoft.com/office/drawing/2014/main" id="{7C4D2FC5-36AF-CB8B-FA9D-35E687CB9A2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9091" y="-30018"/>
            <a:ext cx="5378390" cy="1152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816970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21FFE-0C8E-4CDC-A06F-03EA2A404855}" type="datetimeFigureOut">
              <a:rPr lang="pt-BR" smtClean="0"/>
              <a:t>16/06/2026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B46A2-E8C1-4DF7-A6B0-0FE2B6D4EDEA}" type="slidenum">
              <a:rPr lang="pt-BR" smtClean="0"/>
              <a:t>‹nº›</a:t>
            </a:fld>
            <a:endParaRPr lang="pt-BR"/>
          </a:p>
        </p:txBody>
      </p:sp>
      <p:pic>
        <p:nvPicPr>
          <p:cNvPr id="7" name="Imagem 6" descr="Logotipo&#10;&#10;Descrição gerada automaticamente">
            <a:extLst>
              <a:ext uri="{FF2B5EF4-FFF2-40B4-BE49-F238E27FC236}">
                <a16:creationId xmlns:a16="http://schemas.microsoft.com/office/drawing/2014/main" id="{3EB43183-E29A-193E-5C32-38DEF14BC86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3845" y="-22802"/>
            <a:ext cx="2586472" cy="554181"/>
          </a:xfrm>
          <a:prstGeom prst="rect">
            <a:avLst/>
          </a:prstGeom>
        </p:spPr>
      </p:pic>
      <p:pic>
        <p:nvPicPr>
          <p:cNvPr id="8" name="Picture 2" descr="C:\Anderson\MateriaisAulas\FATEC\Coordenação\logos\logoFatec.png">
            <a:extLst>
              <a:ext uri="{FF2B5EF4-FFF2-40B4-BE49-F238E27FC236}">
                <a16:creationId xmlns:a16="http://schemas.microsoft.com/office/drawing/2014/main" id="{E53F555A-828A-8B46-D975-023EF9F0A3B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35859" y="-22802"/>
            <a:ext cx="1073754" cy="4730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354593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bg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3921FFE-0C8E-4CDC-A06F-03EA2A404855}" type="datetimeFigureOut">
              <a:rPr lang="pt-BR" smtClean="0"/>
              <a:t>16/06/2026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34B46A2-E8C1-4DF7-A6B0-0FE2B6D4EDEA}" type="slidenum">
              <a:rPr lang="pt-BR" smtClean="0"/>
              <a:t>‹nº›</a:t>
            </a:fld>
            <a:endParaRPr lang="pt-BR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pic>
        <p:nvPicPr>
          <p:cNvPr id="8" name="Imagem 7" descr="Logotipo&#10;&#10;Descrição gerada automaticamente">
            <a:extLst>
              <a:ext uri="{FF2B5EF4-FFF2-40B4-BE49-F238E27FC236}">
                <a16:creationId xmlns:a16="http://schemas.microsoft.com/office/drawing/2014/main" id="{13B050C0-90A2-124C-DA09-05C995FA473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3845" y="-22802"/>
            <a:ext cx="2586472" cy="554181"/>
          </a:xfrm>
          <a:prstGeom prst="rect">
            <a:avLst/>
          </a:prstGeom>
        </p:spPr>
      </p:pic>
      <p:pic>
        <p:nvPicPr>
          <p:cNvPr id="9" name="Picture 2" descr="C:\Anderson\MateriaisAulas\FATEC\Coordenação\logos\logoFatec.png">
            <a:extLst>
              <a:ext uri="{FF2B5EF4-FFF2-40B4-BE49-F238E27FC236}">
                <a16:creationId xmlns:a16="http://schemas.microsoft.com/office/drawing/2014/main" id="{0CCBC458-17F8-10E7-D290-E0D70DF19F6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1089"/>
            <a:ext cx="1073754" cy="4730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8868818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21FFE-0C8E-4CDC-A06F-03EA2A404855}" type="datetimeFigureOut">
              <a:rPr lang="pt-BR" smtClean="0"/>
              <a:t>16/06/2026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B46A2-E8C1-4DF7-A6B0-0FE2B6D4EDEA}" type="slidenum">
              <a:rPr lang="pt-BR" smtClean="0"/>
              <a:t>‹nº›</a:t>
            </a:fld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44A1E7B8-4CCB-9172-7582-357EB8FBCBC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3845" y="-22802"/>
            <a:ext cx="2586472" cy="554181"/>
          </a:xfrm>
          <a:prstGeom prst="rect">
            <a:avLst/>
          </a:prstGeom>
        </p:spPr>
      </p:pic>
      <p:pic>
        <p:nvPicPr>
          <p:cNvPr id="11" name="Picture 2" descr="C:\Anderson\MateriaisAulas\FATEC\Coordenação\logos\logoFatec.png">
            <a:extLst>
              <a:ext uri="{FF2B5EF4-FFF2-40B4-BE49-F238E27FC236}">
                <a16:creationId xmlns:a16="http://schemas.microsoft.com/office/drawing/2014/main" id="{683A8211-427E-C947-E50F-3A19D7329D6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35859" y="-22802"/>
            <a:ext cx="1073754" cy="4730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995930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21FFE-0C8E-4CDC-A06F-03EA2A404855}" type="datetimeFigureOut">
              <a:rPr lang="pt-BR" smtClean="0"/>
              <a:t>16/06/2026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B46A2-E8C1-4DF7-A6B0-0FE2B6D4EDEA}" type="slidenum">
              <a:rPr lang="pt-BR" smtClean="0"/>
              <a:t>‹nº›</a:t>
            </a:fld>
            <a:endParaRPr lang="pt-BR"/>
          </a:p>
        </p:txBody>
      </p:sp>
      <p:pic>
        <p:nvPicPr>
          <p:cNvPr id="12" name="Imagem 11" descr="Logotipo&#10;&#10;Descrição gerada automaticamente">
            <a:extLst>
              <a:ext uri="{FF2B5EF4-FFF2-40B4-BE49-F238E27FC236}">
                <a16:creationId xmlns:a16="http://schemas.microsoft.com/office/drawing/2014/main" id="{5039C99E-9729-B239-D23F-FD5F0AB4EF1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3845" y="-22802"/>
            <a:ext cx="2586472" cy="554181"/>
          </a:xfrm>
          <a:prstGeom prst="rect">
            <a:avLst/>
          </a:prstGeom>
        </p:spPr>
      </p:pic>
      <p:pic>
        <p:nvPicPr>
          <p:cNvPr id="13" name="Picture 2" descr="C:\Anderson\MateriaisAulas\FATEC\Coordenação\logos\logoFatec.png">
            <a:extLst>
              <a:ext uri="{FF2B5EF4-FFF2-40B4-BE49-F238E27FC236}">
                <a16:creationId xmlns:a16="http://schemas.microsoft.com/office/drawing/2014/main" id="{614CCBC3-3E4C-F865-EAF4-B0853A4C90A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35859" y="-22802"/>
            <a:ext cx="1073754" cy="4730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094385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21FFE-0C8E-4CDC-A06F-03EA2A404855}" type="datetimeFigureOut">
              <a:rPr lang="pt-BR" smtClean="0"/>
              <a:t>16/06/2026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B46A2-E8C1-4DF7-A6B0-0FE2B6D4EDEA}" type="slidenum">
              <a:rPr lang="pt-BR" smtClean="0"/>
              <a:t>‹nº›</a:t>
            </a:fld>
            <a:endParaRPr lang="pt-BR"/>
          </a:p>
        </p:txBody>
      </p:sp>
      <p:pic>
        <p:nvPicPr>
          <p:cNvPr id="8" name="Imagem 7" descr="Logotipo&#10;&#10;Descrição gerada automaticamente">
            <a:extLst>
              <a:ext uri="{FF2B5EF4-FFF2-40B4-BE49-F238E27FC236}">
                <a16:creationId xmlns:a16="http://schemas.microsoft.com/office/drawing/2014/main" id="{187D0A64-5985-CB9C-AFFF-20ABA29BB49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3845" y="-22802"/>
            <a:ext cx="2586472" cy="554181"/>
          </a:xfrm>
          <a:prstGeom prst="rect">
            <a:avLst/>
          </a:prstGeom>
        </p:spPr>
      </p:pic>
      <p:pic>
        <p:nvPicPr>
          <p:cNvPr id="9" name="Picture 2" descr="C:\Anderson\MateriaisAulas\FATEC\Coordenação\logos\logoFatec.png">
            <a:extLst>
              <a:ext uri="{FF2B5EF4-FFF2-40B4-BE49-F238E27FC236}">
                <a16:creationId xmlns:a16="http://schemas.microsoft.com/office/drawing/2014/main" id="{70EE4532-62B8-3C75-BDA2-F01BFF58FBD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35859" y="-22802"/>
            <a:ext cx="1073754" cy="4730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751582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21FFE-0C8E-4CDC-A06F-03EA2A404855}" type="datetimeFigureOut">
              <a:rPr lang="pt-BR" smtClean="0"/>
              <a:t>16/06/2026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B46A2-E8C1-4DF7-A6B0-0FE2B6D4EDEA}" type="slidenum">
              <a:rPr lang="pt-BR" smtClean="0"/>
              <a:t>‹nº›</a:t>
            </a:fld>
            <a:endParaRPr lang="pt-BR"/>
          </a:p>
        </p:txBody>
      </p:sp>
      <p:pic>
        <p:nvPicPr>
          <p:cNvPr id="7" name="Imagem 6" descr="Logotipo&#10;&#10;Descrição gerada automaticamente">
            <a:extLst>
              <a:ext uri="{FF2B5EF4-FFF2-40B4-BE49-F238E27FC236}">
                <a16:creationId xmlns:a16="http://schemas.microsoft.com/office/drawing/2014/main" id="{D9312479-41DE-4E0D-BE68-FC5C5EAE87E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3845" y="-22802"/>
            <a:ext cx="2586472" cy="554181"/>
          </a:xfrm>
          <a:prstGeom prst="rect">
            <a:avLst/>
          </a:prstGeom>
        </p:spPr>
      </p:pic>
      <p:pic>
        <p:nvPicPr>
          <p:cNvPr id="8" name="Picture 2" descr="C:\Anderson\MateriaisAulas\FATEC\Coordenação\logos\logoFatec.png">
            <a:extLst>
              <a:ext uri="{FF2B5EF4-FFF2-40B4-BE49-F238E27FC236}">
                <a16:creationId xmlns:a16="http://schemas.microsoft.com/office/drawing/2014/main" id="{98962566-D51C-544B-E275-3438E3B7261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35859" y="-22802"/>
            <a:ext cx="1073754" cy="4730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330809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3921FFE-0C8E-4CDC-A06F-03EA2A404855}" type="datetimeFigureOut">
              <a:rPr lang="pt-BR" smtClean="0"/>
              <a:t>16/06/2026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34B46A2-E8C1-4DF7-A6B0-0FE2B6D4EDEA}" type="slidenum">
              <a:rPr lang="pt-BR" smtClean="0"/>
              <a:t>‹nº›</a:t>
            </a:fld>
            <a:endParaRPr lang="pt-BR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2" name="Imagem 11" descr="Logotipo&#10;&#10;Descrição gerada automaticamente">
            <a:extLst>
              <a:ext uri="{FF2B5EF4-FFF2-40B4-BE49-F238E27FC236}">
                <a16:creationId xmlns:a16="http://schemas.microsoft.com/office/drawing/2014/main" id="{98B2AD2B-8F45-BB20-FA78-CCD1858C7EA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3845" y="-22802"/>
            <a:ext cx="2586472" cy="554181"/>
          </a:xfrm>
          <a:prstGeom prst="rect">
            <a:avLst/>
          </a:prstGeom>
        </p:spPr>
      </p:pic>
      <p:pic>
        <p:nvPicPr>
          <p:cNvPr id="13" name="Picture 2" descr="C:\Anderson\MateriaisAulas\FATEC\Coordenação\logos\logoFatec.png">
            <a:extLst>
              <a:ext uri="{FF2B5EF4-FFF2-40B4-BE49-F238E27FC236}">
                <a16:creationId xmlns:a16="http://schemas.microsoft.com/office/drawing/2014/main" id="{48F69B24-F5E3-C2C3-F206-E5581F3D7CA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35859" y="-22802"/>
            <a:ext cx="1073754" cy="4730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927805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531379"/>
            <a:ext cx="6659880" cy="6326620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 dirty="0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3921FFE-0C8E-4CDC-A06F-03EA2A404855}" type="datetimeFigureOut">
              <a:rPr lang="pt-BR" smtClean="0"/>
              <a:t>16/06/2026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34B46A2-E8C1-4DF7-A6B0-0FE2B6D4EDEA}" type="slidenum">
              <a:rPr lang="pt-BR" smtClean="0"/>
              <a:t>‹nº›</a:t>
            </a:fld>
            <a:endParaRPr lang="pt-BR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2" name="Imagem 11" descr="Logotipo&#10;&#10;Descrição gerada automaticamente">
            <a:extLst>
              <a:ext uri="{FF2B5EF4-FFF2-40B4-BE49-F238E27FC236}">
                <a16:creationId xmlns:a16="http://schemas.microsoft.com/office/drawing/2014/main" id="{C2BFCCC7-C805-A317-B0CB-9B0705F5426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3845" y="-22802"/>
            <a:ext cx="2586472" cy="554181"/>
          </a:xfrm>
          <a:prstGeom prst="rect">
            <a:avLst/>
          </a:prstGeom>
        </p:spPr>
      </p:pic>
      <p:pic>
        <p:nvPicPr>
          <p:cNvPr id="13" name="Picture 2" descr="C:\Anderson\MateriaisAulas\FATEC\Coordenação\logos\logoFatec.png">
            <a:extLst>
              <a:ext uri="{FF2B5EF4-FFF2-40B4-BE49-F238E27FC236}">
                <a16:creationId xmlns:a16="http://schemas.microsoft.com/office/drawing/2014/main" id="{FD742EE9-ACB5-C58F-2105-4F95100B3DE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35859" y="-22802"/>
            <a:ext cx="1073754" cy="4730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682546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21FFE-0C8E-4CDC-A06F-03EA2A404855}" type="datetimeFigureOut">
              <a:rPr lang="pt-BR" smtClean="0"/>
              <a:t>16/06/2026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B46A2-E8C1-4DF7-A6B0-0FE2B6D4EDEA}" type="slidenum">
              <a:rPr lang="pt-BR" smtClean="0"/>
              <a:t>‹nº›</a:t>
            </a:fld>
            <a:endParaRPr lang="pt-BR"/>
          </a:p>
        </p:txBody>
      </p:sp>
      <p:pic>
        <p:nvPicPr>
          <p:cNvPr id="9" name="Imagem 8" descr="Logotipo&#10;&#10;Descrição gerada automaticamente">
            <a:extLst>
              <a:ext uri="{FF2B5EF4-FFF2-40B4-BE49-F238E27FC236}">
                <a16:creationId xmlns:a16="http://schemas.microsoft.com/office/drawing/2014/main" id="{D9BDB7B5-65AF-E9B6-5FDC-826215EF2C9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3845" y="-22802"/>
            <a:ext cx="2586472" cy="554181"/>
          </a:xfrm>
          <a:prstGeom prst="rect">
            <a:avLst/>
          </a:prstGeom>
        </p:spPr>
      </p:pic>
      <p:pic>
        <p:nvPicPr>
          <p:cNvPr id="10" name="Picture 2" descr="C:\Anderson\MateriaisAulas\FATEC\Coordenação\logos\logoFatec.png">
            <a:extLst>
              <a:ext uri="{FF2B5EF4-FFF2-40B4-BE49-F238E27FC236}">
                <a16:creationId xmlns:a16="http://schemas.microsoft.com/office/drawing/2014/main" id="{018BB257-BFF8-97AA-2A0E-35234B14894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35859" y="-22802"/>
            <a:ext cx="1073754" cy="4730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610324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21FFE-0C8E-4CDC-A06F-03EA2A404855}" type="datetimeFigureOut">
              <a:rPr lang="pt-BR" smtClean="0"/>
              <a:t>16/06/2026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B46A2-E8C1-4DF7-A6B0-0FE2B6D4EDEA}" type="slidenum">
              <a:rPr lang="pt-BR" smtClean="0"/>
              <a:t>‹nº›</a:t>
            </a:fld>
            <a:endParaRPr lang="pt-BR"/>
          </a:p>
        </p:txBody>
      </p:sp>
      <p:pic>
        <p:nvPicPr>
          <p:cNvPr id="9" name="Imagem 8" descr="Logotipo&#10;&#10;Descrição gerada automaticamente">
            <a:extLst>
              <a:ext uri="{FF2B5EF4-FFF2-40B4-BE49-F238E27FC236}">
                <a16:creationId xmlns:a16="http://schemas.microsoft.com/office/drawing/2014/main" id="{F50CFBF5-A489-9C35-6D51-A6146E81BE7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3845" y="-22802"/>
            <a:ext cx="2586472" cy="554181"/>
          </a:xfrm>
          <a:prstGeom prst="rect">
            <a:avLst/>
          </a:prstGeom>
        </p:spPr>
      </p:pic>
      <p:pic>
        <p:nvPicPr>
          <p:cNvPr id="10" name="Picture 2" descr="C:\Anderson\MateriaisAulas\FATEC\Coordenação\logos\logoFatec.png">
            <a:extLst>
              <a:ext uri="{FF2B5EF4-FFF2-40B4-BE49-F238E27FC236}">
                <a16:creationId xmlns:a16="http://schemas.microsoft.com/office/drawing/2014/main" id="{25649C2C-C87C-5F36-C386-406DF0F7820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35859" y="-22802"/>
            <a:ext cx="1073754" cy="4730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092668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E3921FFE-0C8E-4CDC-A06F-03EA2A404855}" type="datetimeFigureOut">
              <a:rPr lang="pt-BR" smtClean="0"/>
              <a:t>16/06/2026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A34B46A2-E8C1-4DF7-A6B0-0FE2B6D4EDEA}" type="slidenum">
              <a:rPr lang="pt-BR" smtClean="0"/>
              <a:t>‹nº›</a:t>
            </a:fld>
            <a:endParaRPr lang="pt-BR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Imagem 6" descr="Logotipo&#10;&#10;Descrição gerada automaticamente">
            <a:extLst>
              <a:ext uri="{FF2B5EF4-FFF2-40B4-BE49-F238E27FC236}">
                <a16:creationId xmlns:a16="http://schemas.microsoft.com/office/drawing/2014/main" id="{C48A4048-DFD3-A06D-5C62-F7CDC6B921D7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3845" y="-22802"/>
            <a:ext cx="2586472" cy="554181"/>
          </a:xfrm>
          <a:prstGeom prst="rect">
            <a:avLst/>
          </a:prstGeom>
        </p:spPr>
      </p:pic>
      <p:pic>
        <p:nvPicPr>
          <p:cNvPr id="8" name="Picture 2" descr="C:\Anderson\MateriaisAulas\FATEC\Coordenação\logos\logoFatec.png">
            <a:extLst>
              <a:ext uri="{FF2B5EF4-FFF2-40B4-BE49-F238E27FC236}">
                <a16:creationId xmlns:a16="http://schemas.microsoft.com/office/drawing/2014/main" id="{4D8FA285-079F-BF82-5BC0-2F7FD13A9B1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35859" y="-22802"/>
            <a:ext cx="1073754" cy="4730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580766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50D29343-609A-FE48-136F-56F06A17714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Sistema Web de Gestão de Pesquisas por Questionários</a:t>
            </a:r>
          </a:p>
        </p:txBody>
      </p:sp>
      <p:sp>
        <p:nvSpPr>
          <p:cNvPr id="5" name="Subtítulo 4">
            <a:extLst>
              <a:ext uri="{FF2B5EF4-FFF2-40B4-BE49-F238E27FC236}">
                <a16:creationId xmlns:a16="http://schemas.microsoft.com/office/drawing/2014/main" id="{76466BC2-6F7B-0039-EB20-86BD3EB666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87388" y="3956280"/>
            <a:ext cx="7324191" cy="1231018"/>
          </a:xfrm>
        </p:spPr>
        <p:txBody>
          <a:bodyPr>
            <a:normAutofit fontScale="47500" lnSpcReduction="20000"/>
          </a:bodyPr>
          <a:lstStyle/>
          <a:p>
            <a:r>
              <a:rPr lang="pt-BR" sz="2800" dirty="0"/>
              <a:t>VITOR HUGO DIAS MANTOVANI</a:t>
            </a:r>
          </a:p>
          <a:p>
            <a:r>
              <a:rPr lang="pt-BR" sz="2800" dirty="0"/>
              <a:t>ELVYS MONTEIRO FILHO</a:t>
            </a:r>
          </a:p>
          <a:p>
            <a:r>
              <a:rPr lang="pt-BR" sz="2800" dirty="0"/>
              <a:t>VITOR HGO DIAS MANTOVANI</a:t>
            </a:r>
          </a:p>
          <a:p>
            <a:r>
              <a:rPr lang="pt-BR" sz="2800" dirty="0"/>
              <a:t>MATHEUS CARDOSO DE OLIVEIRA BISPO</a:t>
            </a:r>
          </a:p>
          <a:p>
            <a:r>
              <a:rPr lang="pt-BR" sz="2800" dirty="0"/>
              <a:t>LUCAS AUGUSTO VIEIRA TRIDAPALI</a:t>
            </a:r>
          </a:p>
          <a:p>
            <a:r>
              <a:rPr lang="pt-BR" sz="2800" dirty="0"/>
              <a:t>WAGNER ALVES DE SOUZA</a:t>
            </a:r>
          </a:p>
          <a:p>
            <a:endParaRPr lang="pt-BR" dirty="0"/>
          </a:p>
        </p:txBody>
      </p:sp>
      <p:sp>
        <p:nvSpPr>
          <p:cNvPr id="2" name="Subtítulo 4">
            <a:extLst>
              <a:ext uri="{FF2B5EF4-FFF2-40B4-BE49-F238E27FC236}">
                <a16:creationId xmlns:a16="http://schemas.microsoft.com/office/drawing/2014/main" id="{5F813210-501C-FFC9-4A44-E805C03E092C}"/>
              </a:ext>
            </a:extLst>
          </p:cNvPr>
          <p:cNvSpPr txBox="1">
            <a:spLocks/>
          </p:cNvSpPr>
          <p:nvPr/>
        </p:nvSpPr>
        <p:spPr>
          <a:xfrm>
            <a:off x="3717139" y="5256898"/>
            <a:ext cx="4264687" cy="461897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Font typeface="Franklin Gothic Book" panose="020B0503020102020204" pitchFamily="34" charset="0"/>
              <a:buNone/>
              <a:defRPr sz="23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/>
              <a:t>Pitch de Proposta de Solução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781970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A92F927E-680E-8C3E-68A8-EB61BC077B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Problema</a:t>
            </a:r>
          </a:p>
        </p:txBody>
      </p:sp>
      <p:sp>
        <p:nvSpPr>
          <p:cNvPr id="8" name="Espaço Reservado para Conteúdo 7">
            <a:extLst>
              <a:ext uri="{FF2B5EF4-FFF2-40B4-BE49-F238E27FC236}">
                <a16:creationId xmlns:a16="http://schemas.microsoft.com/office/drawing/2014/main" id="{4A967058-DCD9-8ED6-26FD-70ED14926A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Muitas instituições ainda realizam pesquisas utilizando formulários físicos ou ferramentas pouco organizadas, dificultando a coleta, o armazenamento e a análise dos dados obtidos.</a:t>
            </a:r>
          </a:p>
        </p:txBody>
      </p:sp>
    </p:spTree>
    <p:extLst>
      <p:ext uri="{BB962C8B-B14F-4D97-AF65-F5344CB8AC3E}">
        <p14:creationId xmlns:p14="http://schemas.microsoft.com/office/powerpoint/2010/main" val="9515097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119AC6-4D65-5C7F-D5F8-D4624AE1ED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4B84B6E8-CC76-3FD3-B7E1-359CAE8BC0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 Oportunidade</a:t>
            </a:r>
          </a:p>
        </p:txBody>
      </p:sp>
      <p:sp>
        <p:nvSpPr>
          <p:cNvPr id="8" name="Espaço Reservado para Conteúdo 7">
            <a:extLst>
              <a:ext uri="{FF2B5EF4-FFF2-40B4-BE49-F238E27FC236}">
                <a16:creationId xmlns:a16="http://schemas.microsoft.com/office/drawing/2014/main" id="{6066FDCA-D90E-B8CA-3385-B7C7148625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Criar uma plataforma centralizada que permita a criação e aplicação de questionários de forma rápida, organizada e acessível, reduzindo custos e tempo de processamento</a:t>
            </a:r>
          </a:p>
        </p:txBody>
      </p:sp>
    </p:spTree>
    <p:extLst>
      <p:ext uri="{BB962C8B-B14F-4D97-AF65-F5344CB8AC3E}">
        <p14:creationId xmlns:p14="http://schemas.microsoft.com/office/powerpoint/2010/main" val="3628028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3132AE-C672-E750-9EF1-A166A37724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2A4BB4DC-57D2-78AC-5E70-26F9A07E6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 Solução</a:t>
            </a:r>
          </a:p>
        </p:txBody>
      </p:sp>
      <p:sp>
        <p:nvSpPr>
          <p:cNvPr id="8" name="Espaço Reservado para Conteúdo 7">
            <a:extLst>
              <a:ext uri="{FF2B5EF4-FFF2-40B4-BE49-F238E27FC236}">
                <a16:creationId xmlns:a16="http://schemas.microsoft.com/office/drawing/2014/main" id="{F5DC6466-3F8D-3CF1-AECC-B49537CEDF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Desenvolvimento de um sistema web para gerenciamento de pesquisas por questionários, permitindo cadastrar pesquisas, coletar respostas e gerar relatórios automaticamente.</a:t>
            </a:r>
          </a:p>
        </p:txBody>
      </p:sp>
    </p:spTree>
    <p:extLst>
      <p:ext uri="{BB962C8B-B14F-4D97-AF65-F5344CB8AC3E}">
        <p14:creationId xmlns:p14="http://schemas.microsoft.com/office/powerpoint/2010/main" val="11321585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34BB74-95FB-0DED-8F13-7541B25B8D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1128C25D-7645-4ACB-8897-D1B0A7B697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Diferenciais da Solução</a:t>
            </a:r>
          </a:p>
        </p:txBody>
      </p:sp>
      <p:sp>
        <p:nvSpPr>
          <p:cNvPr id="8" name="Espaço Reservado para Conteúdo 7">
            <a:extLst>
              <a:ext uri="{FF2B5EF4-FFF2-40B4-BE49-F238E27FC236}">
                <a16:creationId xmlns:a16="http://schemas.microsoft.com/office/drawing/2014/main" id="{90563FB1-ADF3-31CE-E4E8-A2FD436EA4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Interface simples e intuitiva</a:t>
            </a:r>
          </a:p>
          <a:p>
            <a:r>
              <a:rPr lang="pt-BR" dirty="0"/>
              <a:t>Armazenamento digital das respostas</a:t>
            </a:r>
          </a:p>
          <a:p>
            <a:r>
              <a:rPr lang="pt-BR" dirty="0"/>
              <a:t>Geração de relatórios por pergunta, categoria e participação</a:t>
            </a:r>
          </a:p>
          <a:p>
            <a:r>
              <a:rPr lang="pt-BR" dirty="0"/>
              <a:t>Acesso por computador ou celular</a:t>
            </a:r>
          </a:p>
          <a:p>
            <a:r>
              <a:rPr lang="pt-BR" dirty="0"/>
              <a:t>Facilidade de gerenciamento das pesquisas</a:t>
            </a:r>
          </a:p>
          <a:p>
            <a:r>
              <a:rPr lang="pt-BR" dirty="0"/>
              <a:t>Dashboard com gráficos</a:t>
            </a:r>
          </a:p>
        </p:txBody>
      </p:sp>
    </p:spTree>
    <p:extLst>
      <p:ext uri="{BB962C8B-B14F-4D97-AF65-F5344CB8AC3E}">
        <p14:creationId xmlns:p14="http://schemas.microsoft.com/office/powerpoint/2010/main" val="32221815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06F84B-09B4-336B-B4E2-49EFBCE92A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82157D60-2C32-13D0-9157-81670F86C0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Como Funciona</a:t>
            </a:r>
          </a:p>
        </p:txBody>
      </p:sp>
      <p:sp>
        <p:nvSpPr>
          <p:cNvPr id="8" name="Espaço Reservado para Conteúdo 7">
            <a:extLst>
              <a:ext uri="{FF2B5EF4-FFF2-40B4-BE49-F238E27FC236}">
                <a16:creationId xmlns:a16="http://schemas.microsoft.com/office/drawing/2014/main" id="{24373CDE-8EA1-0296-0249-6291B66F83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pt-BR" dirty="0"/>
              <a:t>O administrador cria a pesquisa</a:t>
            </a:r>
          </a:p>
          <a:p>
            <a:pPr marL="457200" indent="-457200">
              <a:buFont typeface="+mj-lt"/>
              <a:buAutoNum type="arabicPeriod"/>
            </a:pPr>
            <a:endParaRPr lang="pt-BR" dirty="0"/>
          </a:p>
          <a:p>
            <a:pPr marL="457200" indent="-457200">
              <a:buFont typeface="+mj-lt"/>
              <a:buAutoNum type="arabicPeriod"/>
            </a:pPr>
            <a:r>
              <a:rPr lang="pt-BR" dirty="0"/>
              <a:t>Define perguntas e período de participação</a:t>
            </a:r>
          </a:p>
          <a:p>
            <a:pPr marL="457200" indent="-457200">
              <a:buFont typeface="+mj-lt"/>
              <a:buAutoNum type="arabicPeriod"/>
            </a:pPr>
            <a:endParaRPr lang="pt-BR" dirty="0"/>
          </a:p>
          <a:p>
            <a:pPr marL="457200" indent="-457200">
              <a:buFont typeface="+mj-lt"/>
              <a:buAutoNum type="arabicPeriod"/>
            </a:pPr>
            <a:r>
              <a:rPr lang="pt-BR" dirty="0"/>
              <a:t>Os participantes respondem ao questionário</a:t>
            </a:r>
          </a:p>
          <a:p>
            <a:pPr marL="457200" indent="-457200">
              <a:buFont typeface="+mj-lt"/>
              <a:buAutoNum type="arabicPeriod"/>
            </a:pPr>
            <a:endParaRPr lang="pt-BR" dirty="0"/>
          </a:p>
          <a:p>
            <a:pPr marL="457200" indent="-457200">
              <a:buFont typeface="+mj-lt"/>
              <a:buAutoNum type="arabicPeriod"/>
            </a:pPr>
            <a:r>
              <a:rPr lang="pt-BR" dirty="0"/>
              <a:t>As respostas são armazenadas no banco de dados</a:t>
            </a:r>
          </a:p>
          <a:p>
            <a:pPr marL="457200" indent="-457200">
              <a:buFont typeface="+mj-lt"/>
              <a:buAutoNum type="arabicPeriod"/>
            </a:pPr>
            <a:endParaRPr lang="pt-BR" dirty="0"/>
          </a:p>
          <a:p>
            <a:pPr marL="457200" indent="-457200">
              <a:buFont typeface="+mj-lt"/>
              <a:buAutoNum type="arabicPeriod"/>
            </a:pPr>
            <a:r>
              <a:rPr lang="pt-BR" dirty="0"/>
              <a:t>O sistema gera relatórios para análise dos resultados</a:t>
            </a:r>
          </a:p>
        </p:txBody>
      </p:sp>
    </p:spTree>
    <p:extLst>
      <p:ext uri="{BB962C8B-B14F-4D97-AF65-F5344CB8AC3E}">
        <p14:creationId xmlns:p14="http://schemas.microsoft.com/office/powerpoint/2010/main" val="28393139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BAE557-82AF-038C-1641-315083783C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B0B20D98-07B2-A976-1659-5BD70DD3E3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Público-Alvo</a:t>
            </a:r>
          </a:p>
        </p:txBody>
      </p:sp>
      <p:sp>
        <p:nvSpPr>
          <p:cNvPr id="8" name="Espaço Reservado para Conteúdo 7">
            <a:extLst>
              <a:ext uri="{FF2B5EF4-FFF2-40B4-BE49-F238E27FC236}">
                <a16:creationId xmlns:a16="http://schemas.microsoft.com/office/drawing/2014/main" id="{B3C965DC-2386-D95F-2247-6E63C22BBB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Instituições de ensino</a:t>
            </a:r>
          </a:p>
          <a:p>
            <a:endParaRPr lang="pt-BR" dirty="0"/>
          </a:p>
          <a:p>
            <a:r>
              <a:rPr lang="pt-BR" dirty="0"/>
              <a:t>Empresas</a:t>
            </a:r>
          </a:p>
          <a:p>
            <a:endParaRPr lang="pt-BR" dirty="0"/>
          </a:p>
          <a:p>
            <a:r>
              <a:rPr lang="pt-BR" dirty="0"/>
              <a:t>Organizações públicas e privadas</a:t>
            </a:r>
          </a:p>
          <a:p>
            <a:endParaRPr lang="pt-BR" dirty="0"/>
          </a:p>
          <a:p>
            <a:r>
              <a:rPr lang="pt-BR" dirty="0"/>
              <a:t>Pesquisadores</a:t>
            </a:r>
          </a:p>
        </p:txBody>
      </p:sp>
    </p:spTree>
    <p:extLst>
      <p:ext uri="{BB962C8B-B14F-4D97-AF65-F5344CB8AC3E}">
        <p14:creationId xmlns:p14="http://schemas.microsoft.com/office/powerpoint/2010/main" val="40195798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40CA61-5244-49AA-5ACC-67E0506D01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F030C29A-C2DD-B7E9-5FF2-B9D89FF4EE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Benefícios</a:t>
            </a:r>
          </a:p>
        </p:txBody>
      </p:sp>
      <p:sp>
        <p:nvSpPr>
          <p:cNvPr id="8" name="Espaço Reservado para Conteúdo 7">
            <a:extLst>
              <a:ext uri="{FF2B5EF4-FFF2-40B4-BE49-F238E27FC236}">
                <a16:creationId xmlns:a16="http://schemas.microsoft.com/office/drawing/2014/main" id="{B99EF649-BE50-42B9-E3E2-AEC2785A13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pt-BR" b="1" dirty="0"/>
              <a:t>Para a Instituição:</a:t>
            </a:r>
          </a:p>
          <a:p>
            <a:r>
              <a:rPr lang="pt-BR" sz="1600" dirty="0"/>
              <a:t>Melhor organização dos dados</a:t>
            </a:r>
          </a:p>
          <a:p>
            <a:r>
              <a:rPr lang="pt-BR" sz="1600" dirty="0"/>
              <a:t>Economia de tempo e recursos</a:t>
            </a:r>
          </a:p>
          <a:p>
            <a:r>
              <a:rPr lang="pt-BR" sz="1600" dirty="0"/>
              <a:t>Facilidade na análise dos resultados</a:t>
            </a:r>
          </a:p>
          <a:p>
            <a:r>
              <a:rPr lang="pt-BR" sz="1600" dirty="0"/>
              <a:t>Maior controle das pesquisas realizadas</a:t>
            </a:r>
          </a:p>
          <a:p>
            <a:endParaRPr lang="pt-BR" dirty="0"/>
          </a:p>
          <a:p>
            <a:r>
              <a:rPr lang="pt-BR" b="1" dirty="0"/>
              <a:t>Para os participantes:</a:t>
            </a:r>
          </a:p>
          <a:p>
            <a:r>
              <a:rPr lang="pt-BR" sz="1600" dirty="0"/>
              <a:t>Facilidade para responder questionários</a:t>
            </a:r>
          </a:p>
          <a:p>
            <a:r>
              <a:rPr lang="pt-BR" sz="1600" dirty="0"/>
              <a:t>Acesso remoto</a:t>
            </a:r>
          </a:p>
          <a:p>
            <a:r>
              <a:rPr lang="pt-BR" sz="1600" dirty="0"/>
              <a:t>Processo rápido e intuitivo</a:t>
            </a:r>
          </a:p>
        </p:txBody>
      </p:sp>
    </p:spTree>
    <p:extLst>
      <p:ext uri="{BB962C8B-B14F-4D97-AF65-F5344CB8AC3E}">
        <p14:creationId xmlns:p14="http://schemas.microsoft.com/office/powerpoint/2010/main" val="4285769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A47A77-0461-1B82-6E7E-61B91C88C7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F1BC38E1-DF64-629C-68C7-4030FF0D5F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Viabilidade Técnica (Tecnologias)</a:t>
            </a:r>
          </a:p>
        </p:txBody>
      </p:sp>
      <p:sp>
        <p:nvSpPr>
          <p:cNvPr id="8" name="Espaço Reservado para Conteúdo 7">
            <a:extLst>
              <a:ext uri="{FF2B5EF4-FFF2-40B4-BE49-F238E27FC236}">
                <a16:creationId xmlns:a16="http://schemas.microsoft.com/office/drawing/2014/main" id="{40815DB4-1ED6-362C-134E-8AC55C981D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HTML, CSS e JavaScript</a:t>
            </a:r>
          </a:p>
          <a:p>
            <a:endParaRPr lang="pt-BR" dirty="0"/>
          </a:p>
          <a:p>
            <a:r>
              <a:rPr lang="pt-BR" dirty="0"/>
              <a:t>PHP ou Java</a:t>
            </a:r>
          </a:p>
          <a:p>
            <a:endParaRPr lang="pt-BR" dirty="0"/>
          </a:p>
          <a:p>
            <a:r>
              <a:rPr lang="pt-BR" dirty="0"/>
              <a:t>Banco de Dados MySQL</a:t>
            </a:r>
          </a:p>
          <a:p>
            <a:endParaRPr lang="pt-BR" dirty="0"/>
          </a:p>
          <a:p>
            <a:r>
              <a:rPr lang="pt-BR" dirty="0"/>
              <a:t>Servidor Web Apache</a:t>
            </a:r>
          </a:p>
        </p:txBody>
      </p:sp>
    </p:spTree>
    <p:extLst>
      <p:ext uri="{BB962C8B-B14F-4D97-AF65-F5344CB8AC3E}">
        <p14:creationId xmlns:p14="http://schemas.microsoft.com/office/powerpoint/2010/main" val="40246902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55082C-06BC-DBC6-89FB-E380B0ACE4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A09000EB-5C96-B0F7-4664-7E3A0F9A58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MVP – Produto Mínimo Viável</a:t>
            </a:r>
          </a:p>
        </p:txBody>
      </p:sp>
      <p:sp>
        <p:nvSpPr>
          <p:cNvPr id="8" name="Espaço Reservado para Conteúdo 7">
            <a:extLst>
              <a:ext uri="{FF2B5EF4-FFF2-40B4-BE49-F238E27FC236}">
                <a16:creationId xmlns:a16="http://schemas.microsoft.com/office/drawing/2014/main" id="{AD88BEA9-9B62-9D91-0D2E-AB1ED94363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Cadastro de pesquisas</a:t>
            </a:r>
          </a:p>
          <a:p>
            <a:endParaRPr lang="pt-BR" dirty="0"/>
          </a:p>
          <a:p>
            <a:r>
              <a:rPr lang="pt-BR" dirty="0"/>
              <a:t>Cadastro de perguntas</a:t>
            </a:r>
          </a:p>
          <a:p>
            <a:endParaRPr lang="pt-BR" dirty="0"/>
          </a:p>
          <a:p>
            <a:r>
              <a:rPr lang="pt-BR" dirty="0"/>
              <a:t>Resposta dos questionários</a:t>
            </a:r>
          </a:p>
          <a:p>
            <a:endParaRPr lang="pt-BR" dirty="0"/>
          </a:p>
          <a:p>
            <a:r>
              <a:rPr lang="pt-BR" dirty="0"/>
              <a:t>Visualização básica dos resultados</a:t>
            </a:r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203386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4089F1-7707-CD99-7D12-9BBFFDA62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01EA0571-CD32-834E-B65B-6854D2DCAF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Evolução Futura</a:t>
            </a:r>
          </a:p>
        </p:txBody>
      </p:sp>
      <p:sp>
        <p:nvSpPr>
          <p:cNvPr id="8" name="Espaço Reservado para Conteúdo 7">
            <a:extLst>
              <a:ext uri="{FF2B5EF4-FFF2-40B4-BE49-F238E27FC236}">
                <a16:creationId xmlns:a16="http://schemas.microsoft.com/office/drawing/2014/main" id="{B65EEFF9-9CB4-E91E-0232-18AAF0B707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Exportação para PDF e EXCEL</a:t>
            </a:r>
          </a:p>
          <a:p>
            <a:r>
              <a:rPr lang="pt-BR" dirty="0"/>
              <a:t>Envio de pesquisas por e-mail</a:t>
            </a:r>
          </a:p>
          <a:p>
            <a:r>
              <a:rPr lang="pt-BR" dirty="0"/>
              <a:t>Integração com aplicativos móveis</a:t>
            </a:r>
          </a:p>
        </p:txBody>
      </p:sp>
    </p:spTree>
    <p:extLst>
      <p:ext uri="{BB962C8B-B14F-4D97-AF65-F5344CB8AC3E}">
        <p14:creationId xmlns:p14="http://schemas.microsoft.com/office/powerpoint/2010/main" val="30834397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873CF5-8EF3-6B84-CB33-F266A208CD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491C6857-CDDF-F936-A9AA-4D47833197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Conclusão</a:t>
            </a:r>
          </a:p>
        </p:txBody>
      </p:sp>
      <p:sp>
        <p:nvSpPr>
          <p:cNvPr id="8" name="Espaço Reservado para Conteúdo 7">
            <a:extLst>
              <a:ext uri="{FF2B5EF4-FFF2-40B4-BE49-F238E27FC236}">
                <a16:creationId xmlns:a16="http://schemas.microsoft.com/office/drawing/2014/main" id="{BAE49A09-9710-9224-A912-478C8C330B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O sistema proposto busca tornar o processo de pesquisa mais eficiente, organizado e acessível, oferecendo uma solução prática para coleta e análise de dados.</a:t>
            </a:r>
          </a:p>
        </p:txBody>
      </p:sp>
    </p:spTree>
    <p:extLst>
      <p:ext uri="{BB962C8B-B14F-4D97-AF65-F5344CB8AC3E}">
        <p14:creationId xmlns:p14="http://schemas.microsoft.com/office/powerpoint/2010/main" val="1614219248"/>
      </p:ext>
    </p:extLst>
  </p:cSld>
  <p:clrMapOvr>
    <a:masterClrMapping/>
  </p:clrMapOvr>
</p:sld>
</file>

<file path=ppt/theme/theme1.xml><?xml version="1.0" encoding="utf-8"?>
<a:theme xmlns:a="http://schemas.openxmlformats.org/drawingml/2006/main" name="Cortar">
  <a:themeElements>
    <a:clrScheme name="Cortar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ortar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ortar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TM10001105[[fn=Cortar]]</Template>
  <TotalTime>107</TotalTime>
  <Words>315</Words>
  <Application>Microsoft Office PowerPoint</Application>
  <PresentationFormat>Widescreen</PresentationFormat>
  <Paragraphs>72</Paragraphs>
  <Slides>12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4" baseType="lpstr">
      <vt:lpstr>Franklin Gothic Book</vt:lpstr>
      <vt:lpstr>Cortar</vt:lpstr>
      <vt:lpstr>Sistema Web de Gestão de Pesquisas por Questionários</vt:lpstr>
      <vt:lpstr>O Problema</vt:lpstr>
      <vt:lpstr>A Oportunidade</vt:lpstr>
      <vt:lpstr>A Solução</vt:lpstr>
      <vt:lpstr>Diferenciais da Solução</vt:lpstr>
      <vt:lpstr>Como Funciona</vt:lpstr>
      <vt:lpstr>Público-Alvo</vt:lpstr>
      <vt:lpstr>Benefícios</vt:lpstr>
      <vt:lpstr>Viabilidade Técnica (Tecnologias)</vt:lpstr>
      <vt:lpstr>MVP – Produto Mínimo Viável</vt:lpstr>
      <vt:lpstr>Evolução Futura</vt:lpstr>
      <vt:lpstr>Conclusão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TEMA</dc:title>
  <dc:creator>Anderson Pazin</dc:creator>
  <cp:lastModifiedBy>Vitor Mantovani</cp:lastModifiedBy>
  <cp:revision>6</cp:revision>
  <dcterms:created xsi:type="dcterms:W3CDTF">2023-06-14T22:17:51Z</dcterms:created>
  <dcterms:modified xsi:type="dcterms:W3CDTF">2026-06-16T22:01:36Z</dcterms:modified>
</cp:coreProperties>
</file>